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61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310"/>
    <p:restoredTop sz="94597"/>
  </p:normalViewPr>
  <p:slideViewPr>
    <p:cSldViewPr snapToGrid="0">
      <p:cViewPr varScale="1">
        <p:scale>
          <a:sx n="107" d="100"/>
          <a:sy n="107" d="100"/>
        </p:scale>
        <p:origin x="40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4" Type="http://schemas.openxmlformats.org/officeDocument/2006/relationships/image" Target="../media/image5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4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5F045E3-5D1F-714B-AD21-845771FA74C9}" type="doc">
      <dgm:prSet loTypeId="urn:microsoft.com/office/officeart/2018/2/layout/IconLabelList" loCatId="icon" qsTypeId="urn:microsoft.com/office/officeart/2005/8/quickstyle/3d4" qsCatId="3D" csTypeId="urn:microsoft.com/office/officeart/2005/8/colors/accent4_2" csCatId="accent4" phldr="1"/>
      <dgm:spPr/>
      <dgm:t>
        <a:bodyPr/>
        <a:lstStyle/>
        <a:p>
          <a:endParaRPr lang="en-US"/>
        </a:p>
      </dgm:t>
    </dgm:pt>
    <dgm:pt modelId="{E25B1C0E-D1CD-9042-860C-F83964051727}">
      <dgm:prSet phldrT="[Text]" custT="1"/>
      <dgm:spPr/>
      <dgm:t>
        <a:bodyPr/>
        <a:lstStyle/>
        <a:p>
          <a:pPr>
            <a:lnSpc>
              <a:spcPct val="100000"/>
            </a:lnSpc>
          </a:pPr>
          <a:r>
            <a:rPr lang="en-US" sz="1200" dirty="0">
              <a:latin typeface="Arial" panose="020B0604020202020204" pitchFamily="34" charset="0"/>
              <a:cs typeface="Arial" panose="020B0604020202020204" pitchFamily="34" charset="0"/>
            </a:rPr>
            <a:t>1. Sourced production data from Texas RRC</a:t>
          </a:r>
          <a:r>
            <a:rPr lang="en-US" sz="1200" baseline="30000" dirty="0">
              <a:latin typeface="Arial" panose="020B0604020202020204" pitchFamily="34" charset="0"/>
              <a:cs typeface="Arial" panose="020B0604020202020204" pitchFamily="34" charset="0"/>
            </a:rPr>
            <a:t>(1)</a:t>
          </a:r>
          <a:endParaRPr lang="en-US" sz="12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B28D09D-0CA2-D144-BBF7-C9B95EE2CAD4}" type="parTrans" cxnId="{FB2D9AA7-0A7C-F346-AA3D-4DA2C1A0ABD8}">
      <dgm:prSet/>
      <dgm:spPr/>
      <dgm:t>
        <a:bodyPr/>
        <a:lstStyle/>
        <a:p>
          <a:endParaRPr lang="en-US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9B3FC7B-DDB7-2C48-AFB4-4C0E0BE522F2}" type="sibTrans" cxnId="{FB2D9AA7-0A7C-F346-AA3D-4DA2C1A0ABD8}">
      <dgm:prSet/>
      <dgm:spPr/>
      <dgm:t>
        <a:bodyPr/>
        <a:lstStyle/>
        <a:p>
          <a:endParaRPr lang="en-US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2605EA7-D7C5-5D4F-BB9A-87C41EE67B47}">
      <dgm:prSet phldrT="[Text]" custT="1"/>
      <dgm:spPr/>
      <dgm:t>
        <a:bodyPr/>
        <a:lstStyle/>
        <a:p>
          <a:pPr>
            <a:lnSpc>
              <a:spcPct val="100000"/>
            </a:lnSpc>
          </a:pPr>
          <a:r>
            <a:rPr lang="en-US" sz="1200" dirty="0">
              <a:latin typeface="Arial" panose="020B0604020202020204" pitchFamily="34" charset="0"/>
              <a:cs typeface="Arial" panose="020B0604020202020204" pitchFamily="34" charset="0"/>
            </a:rPr>
            <a:t>2. Screened 100 top leases across 5 counties</a:t>
          </a:r>
          <a:r>
            <a:rPr lang="en-US" sz="1200" baseline="30000" dirty="0">
              <a:latin typeface="Arial" panose="020B0604020202020204" pitchFamily="34" charset="0"/>
              <a:cs typeface="Arial" panose="020B0604020202020204" pitchFamily="34" charset="0"/>
            </a:rPr>
            <a:t>(2)</a:t>
          </a:r>
          <a:endParaRPr lang="en-US" sz="12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0501DFE-EFD0-5B4F-BB19-EFFF9DE2386E}" type="parTrans" cxnId="{A9F40698-BD30-E847-80B2-B07A438DED6D}">
      <dgm:prSet/>
      <dgm:spPr/>
      <dgm:t>
        <a:bodyPr/>
        <a:lstStyle/>
        <a:p>
          <a:endParaRPr lang="en-US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66BB923-8AD5-BF45-8D56-35E37ED75C73}" type="sibTrans" cxnId="{A9F40698-BD30-E847-80B2-B07A438DED6D}">
      <dgm:prSet/>
      <dgm:spPr/>
      <dgm:t>
        <a:bodyPr/>
        <a:lstStyle/>
        <a:p>
          <a:endParaRPr lang="en-US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1AB49F2-7DB5-9346-86F2-565540194A85}">
      <dgm:prSet phldrT="[Text]" custT="1"/>
      <dgm:spPr/>
      <dgm:t>
        <a:bodyPr/>
        <a:lstStyle/>
        <a:p>
          <a:pPr>
            <a:lnSpc>
              <a:spcPct val="100000"/>
            </a:lnSpc>
          </a:pPr>
          <a:r>
            <a:rPr lang="en-US" sz="1200" dirty="0">
              <a:latin typeface="Arial" panose="020B0604020202020204" pitchFamily="34" charset="0"/>
              <a:cs typeface="Arial" panose="020B0604020202020204" pitchFamily="34" charset="0"/>
            </a:rPr>
            <a:t>3. Fit Arps decline curves by basin</a:t>
          </a:r>
          <a:r>
            <a:rPr lang="en-US" sz="1200" baseline="30000" dirty="0">
              <a:latin typeface="Arial" panose="020B0604020202020204" pitchFamily="34" charset="0"/>
              <a:cs typeface="Arial" panose="020B0604020202020204" pitchFamily="34" charset="0"/>
            </a:rPr>
            <a:t>(2)</a:t>
          </a:r>
          <a:endParaRPr lang="en-US" sz="12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6E2DAA8-A0B1-B94B-A6F1-3B7EEFFE863E}" type="parTrans" cxnId="{1B35FBDF-8C58-EB40-9755-C2BB03A172A7}">
      <dgm:prSet/>
      <dgm:spPr/>
      <dgm:t>
        <a:bodyPr/>
        <a:lstStyle/>
        <a:p>
          <a:endParaRPr lang="en-US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7330B0A-0CD0-E644-8F03-2426F9F2E3D0}" type="sibTrans" cxnId="{1B35FBDF-8C58-EB40-9755-C2BB03A172A7}">
      <dgm:prSet/>
      <dgm:spPr/>
      <dgm:t>
        <a:bodyPr/>
        <a:lstStyle/>
        <a:p>
          <a:endParaRPr lang="en-US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B94CFC2-1FAF-3844-B43D-DC0C8C22BB26}">
      <dgm:prSet phldrT="[Text]" custT="1"/>
      <dgm:spPr/>
      <dgm:t>
        <a:bodyPr/>
        <a:lstStyle/>
        <a:p>
          <a:pPr>
            <a:lnSpc>
              <a:spcPct val="100000"/>
            </a:lnSpc>
          </a:pPr>
          <a:r>
            <a:rPr lang="en-US" sz="1200" dirty="0">
              <a:latin typeface="Arial" panose="020B0604020202020204" pitchFamily="34" charset="0"/>
              <a:cs typeface="Arial" panose="020B0604020202020204" pitchFamily="34" charset="0"/>
            </a:rPr>
            <a:t>4. Forecast 15-yr production by basin</a:t>
          </a:r>
          <a:r>
            <a:rPr lang="en-US" sz="1200" baseline="30000" dirty="0">
              <a:latin typeface="Arial" panose="020B0604020202020204" pitchFamily="34" charset="0"/>
              <a:cs typeface="Arial" panose="020B0604020202020204" pitchFamily="34" charset="0"/>
            </a:rPr>
            <a:t>(2)</a:t>
          </a:r>
          <a:endParaRPr lang="en-US" sz="12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F13166B-3872-7748-B789-826D38AC7526}" type="parTrans" cxnId="{1ABD2C97-951D-1C44-B73C-E85F494BCFBC}">
      <dgm:prSet/>
      <dgm:spPr/>
      <dgm:t>
        <a:bodyPr/>
        <a:lstStyle/>
        <a:p>
          <a:endParaRPr lang="en-US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B13F06E0-6AB6-A542-86AA-EB5DFF02D7A8}" type="sibTrans" cxnId="{1ABD2C97-951D-1C44-B73C-E85F494BCFBC}">
      <dgm:prSet/>
      <dgm:spPr/>
      <dgm:t>
        <a:bodyPr/>
        <a:lstStyle/>
        <a:p>
          <a:endParaRPr lang="en-US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ACDFC06-3EF4-4F20-B114-C277BEFF5897}" type="pres">
      <dgm:prSet presAssocID="{F5F045E3-5D1F-714B-AD21-845771FA74C9}" presName="root" presStyleCnt="0">
        <dgm:presLayoutVars>
          <dgm:dir/>
          <dgm:resizeHandles val="exact"/>
        </dgm:presLayoutVars>
      </dgm:prSet>
      <dgm:spPr/>
    </dgm:pt>
    <dgm:pt modelId="{400BE046-5586-498C-9CBA-4B199EEC4F7D}" type="pres">
      <dgm:prSet presAssocID="{E25B1C0E-D1CD-9042-860C-F83964051727}" presName="compNode" presStyleCnt="0"/>
      <dgm:spPr/>
    </dgm:pt>
    <dgm:pt modelId="{F704ADCB-C690-4F21-B2CB-1D47A41C82A1}" type="pres">
      <dgm:prSet presAssocID="{E25B1C0E-D1CD-9042-860C-F83964051727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E6CAA4D1-714E-4A88-B78C-240402883A2E}" type="pres">
      <dgm:prSet presAssocID="{E25B1C0E-D1CD-9042-860C-F83964051727}" presName="spaceRect" presStyleCnt="0"/>
      <dgm:spPr/>
    </dgm:pt>
    <dgm:pt modelId="{6356800A-5337-4365-AE34-1EB1F4126F34}" type="pres">
      <dgm:prSet presAssocID="{E25B1C0E-D1CD-9042-860C-F83964051727}" presName="textRect" presStyleLbl="revTx" presStyleIdx="0" presStyleCnt="4">
        <dgm:presLayoutVars>
          <dgm:chMax val="1"/>
          <dgm:chPref val="1"/>
        </dgm:presLayoutVars>
      </dgm:prSet>
      <dgm:spPr/>
    </dgm:pt>
    <dgm:pt modelId="{03B7B538-DCD3-42C5-BC3B-D58AD2C13AC8}" type="pres">
      <dgm:prSet presAssocID="{99B3FC7B-DDB7-2C48-AFB4-4C0E0BE522F2}" presName="sibTrans" presStyleCnt="0"/>
      <dgm:spPr/>
    </dgm:pt>
    <dgm:pt modelId="{DDDCA7DE-D888-43CF-9021-CCDA173E267A}" type="pres">
      <dgm:prSet presAssocID="{42605EA7-D7C5-5D4F-BB9A-87C41EE67B47}" presName="compNode" presStyleCnt="0"/>
      <dgm:spPr/>
    </dgm:pt>
    <dgm:pt modelId="{814105F1-BCA9-4B12-B862-987FCAF973DD}" type="pres">
      <dgm:prSet presAssocID="{42605EA7-D7C5-5D4F-BB9A-87C41EE67B47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83505F72-837A-4E19-B72E-ECE1E1C488D0}" type="pres">
      <dgm:prSet presAssocID="{42605EA7-D7C5-5D4F-BB9A-87C41EE67B47}" presName="spaceRect" presStyleCnt="0"/>
      <dgm:spPr/>
    </dgm:pt>
    <dgm:pt modelId="{42ADAB93-E2E0-4074-8142-0DE9F50E907C}" type="pres">
      <dgm:prSet presAssocID="{42605EA7-D7C5-5D4F-BB9A-87C41EE67B47}" presName="textRect" presStyleLbl="revTx" presStyleIdx="1" presStyleCnt="4">
        <dgm:presLayoutVars>
          <dgm:chMax val="1"/>
          <dgm:chPref val="1"/>
        </dgm:presLayoutVars>
      </dgm:prSet>
      <dgm:spPr/>
    </dgm:pt>
    <dgm:pt modelId="{B3DB2270-F542-48D9-8857-598C43573ADC}" type="pres">
      <dgm:prSet presAssocID="{566BB923-8AD5-BF45-8D56-35E37ED75C73}" presName="sibTrans" presStyleCnt="0"/>
      <dgm:spPr/>
    </dgm:pt>
    <dgm:pt modelId="{90CCD50A-E8FF-4E04-AC2A-4C72448E8F39}" type="pres">
      <dgm:prSet presAssocID="{01AB49F2-7DB5-9346-86F2-565540194A85}" presName="compNode" presStyleCnt="0"/>
      <dgm:spPr/>
    </dgm:pt>
    <dgm:pt modelId="{FFA91142-C8C9-47B7-BFA8-63E4A1630F9D}" type="pres">
      <dgm:prSet presAssocID="{01AB49F2-7DB5-9346-86F2-565540194A85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889B9095-CFDC-4908-9350-8D3851B70EC1}" type="pres">
      <dgm:prSet presAssocID="{01AB49F2-7DB5-9346-86F2-565540194A85}" presName="spaceRect" presStyleCnt="0"/>
      <dgm:spPr/>
    </dgm:pt>
    <dgm:pt modelId="{7BE0CD95-3511-4098-9A29-3FEF413BADF6}" type="pres">
      <dgm:prSet presAssocID="{01AB49F2-7DB5-9346-86F2-565540194A85}" presName="textRect" presStyleLbl="revTx" presStyleIdx="2" presStyleCnt="4">
        <dgm:presLayoutVars>
          <dgm:chMax val="1"/>
          <dgm:chPref val="1"/>
        </dgm:presLayoutVars>
      </dgm:prSet>
      <dgm:spPr/>
    </dgm:pt>
    <dgm:pt modelId="{A1221D3C-73BF-3045-AC08-B41A7543F16A}" type="pres">
      <dgm:prSet presAssocID="{C7330B0A-0CD0-E644-8F03-2426F9F2E3D0}" presName="sibTrans" presStyleCnt="0"/>
      <dgm:spPr/>
    </dgm:pt>
    <dgm:pt modelId="{F7983DC5-B81A-41FA-B807-BE5E1EF03D82}" type="pres">
      <dgm:prSet presAssocID="{EB94CFC2-1FAF-3844-B43D-DC0C8C22BB26}" presName="compNode" presStyleCnt="0"/>
      <dgm:spPr/>
    </dgm:pt>
    <dgm:pt modelId="{D7EF4368-79F4-46BB-9D1C-2E2696BEED36}" type="pres">
      <dgm:prSet presAssocID="{EB94CFC2-1FAF-3844-B43D-DC0C8C22BB26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alculator"/>
        </a:ext>
      </dgm:extLst>
    </dgm:pt>
    <dgm:pt modelId="{AF343844-828B-4D99-B7C1-4998378B0B5D}" type="pres">
      <dgm:prSet presAssocID="{EB94CFC2-1FAF-3844-B43D-DC0C8C22BB26}" presName="spaceRect" presStyleCnt="0"/>
      <dgm:spPr/>
    </dgm:pt>
    <dgm:pt modelId="{A3E06915-9D78-4120-8D40-B0D5007CECE9}" type="pres">
      <dgm:prSet presAssocID="{EB94CFC2-1FAF-3844-B43D-DC0C8C22BB26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B933CB1C-0092-D048-AC85-B1442B088BC3}" type="presOf" srcId="{01AB49F2-7DB5-9346-86F2-565540194A85}" destId="{7BE0CD95-3511-4098-9A29-3FEF413BADF6}" srcOrd="0" destOrd="0" presId="urn:microsoft.com/office/officeart/2018/2/layout/IconLabelList"/>
    <dgm:cxn modelId="{3D81794C-8040-B845-A14E-90B098228B51}" type="presOf" srcId="{E25B1C0E-D1CD-9042-860C-F83964051727}" destId="{6356800A-5337-4365-AE34-1EB1F4126F34}" srcOrd="0" destOrd="0" presId="urn:microsoft.com/office/officeart/2018/2/layout/IconLabelList"/>
    <dgm:cxn modelId="{081EB985-CF95-D042-8195-E1BE6DA21624}" type="presOf" srcId="{EB94CFC2-1FAF-3844-B43D-DC0C8C22BB26}" destId="{A3E06915-9D78-4120-8D40-B0D5007CECE9}" srcOrd="0" destOrd="0" presId="urn:microsoft.com/office/officeart/2018/2/layout/IconLabelList"/>
    <dgm:cxn modelId="{1ABD2C97-951D-1C44-B73C-E85F494BCFBC}" srcId="{F5F045E3-5D1F-714B-AD21-845771FA74C9}" destId="{EB94CFC2-1FAF-3844-B43D-DC0C8C22BB26}" srcOrd="3" destOrd="0" parTransId="{5F13166B-3872-7748-B789-826D38AC7526}" sibTransId="{B13F06E0-6AB6-A542-86AA-EB5DFF02D7A8}"/>
    <dgm:cxn modelId="{A9F40698-BD30-E847-80B2-B07A438DED6D}" srcId="{F5F045E3-5D1F-714B-AD21-845771FA74C9}" destId="{42605EA7-D7C5-5D4F-BB9A-87C41EE67B47}" srcOrd="1" destOrd="0" parTransId="{F0501DFE-EFD0-5B4F-BB19-EFFF9DE2386E}" sibTransId="{566BB923-8AD5-BF45-8D56-35E37ED75C73}"/>
    <dgm:cxn modelId="{370D29A3-A726-A140-BFEE-3E531DDF0C18}" type="presOf" srcId="{F5F045E3-5D1F-714B-AD21-845771FA74C9}" destId="{1ACDFC06-3EF4-4F20-B114-C277BEFF5897}" srcOrd="0" destOrd="0" presId="urn:microsoft.com/office/officeart/2018/2/layout/IconLabelList"/>
    <dgm:cxn modelId="{FB2D9AA7-0A7C-F346-AA3D-4DA2C1A0ABD8}" srcId="{F5F045E3-5D1F-714B-AD21-845771FA74C9}" destId="{E25B1C0E-D1CD-9042-860C-F83964051727}" srcOrd="0" destOrd="0" parTransId="{1B28D09D-0CA2-D144-BBF7-C9B95EE2CAD4}" sibTransId="{99B3FC7B-DDB7-2C48-AFB4-4C0E0BE522F2}"/>
    <dgm:cxn modelId="{66F6EDC7-B2C8-6C4D-AACA-D1C4F5C15F16}" type="presOf" srcId="{42605EA7-D7C5-5D4F-BB9A-87C41EE67B47}" destId="{42ADAB93-E2E0-4074-8142-0DE9F50E907C}" srcOrd="0" destOrd="0" presId="urn:microsoft.com/office/officeart/2018/2/layout/IconLabelList"/>
    <dgm:cxn modelId="{1B35FBDF-8C58-EB40-9755-C2BB03A172A7}" srcId="{F5F045E3-5D1F-714B-AD21-845771FA74C9}" destId="{01AB49F2-7DB5-9346-86F2-565540194A85}" srcOrd="2" destOrd="0" parTransId="{66E2DAA8-A0B1-B94B-A6F1-3B7EEFFE863E}" sibTransId="{C7330B0A-0CD0-E644-8F03-2426F9F2E3D0}"/>
    <dgm:cxn modelId="{B565D8DC-D8B3-1741-832D-87DAC64C6B49}" type="presParOf" srcId="{1ACDFC06-3EF4-4F20-B114-C277BEFF5897}" destId="{400BE046-5586-498C-9CBA-4B199EEC4F7D}" srcOrd="0" destOrd="0" presId="urn:microsoft.com/office/officeart/2018/2/layout/IconLabelList"/>
    <dgm:cxn modelId="{BF549F44-BF4B-7B42-96C8-FC9919F1FED4}" type="presParOf" srcId="{400BE046-5586-498C-9CBA-4B199EEC4F7D}" destId="{F704ADCB-C690-4F21-B2CB-1D47A41C82A1}" srcOrd="0" destOrd="0" presId="urn:microsoft.com/office/officeart/2018/2/layout/IconLabelList"/>
    <dgm:cxn modelId="{BDF1F28C-9987-8B44-93D1-A8AC2B283B59}" type="presParOf" srcId="{400BE046-5586-498C-9CBA-4B199EEC4F7D}" destId="{E6CAA4D1-714E-4A88-B78C-240402883A2E}" srcOrd="1" destOrd="0" presId="urn:microsoft.com/office/officeart/2018/2/layout/IconLabelList"/>
    <dgm:cxn modelId="{57C3A804-1A44-7047-9D1B-2248A2015E95}" type="presParOf" srcId="{400BE046-5586-498C-9CBA-4B199EEC4F7D}" destId="{6356800A-5337-4365-AE34-1EB1F4126F34}" srcOrd="2" destOrd="0" presId="urn:microsoft.com/office/officeart/2018/2/layout/IconLabelList"/>
    <dgm:cxn modelId="{C818A3EC-B059-8B43-B66E-9A7A823FB718}" type="presParOf" srcId="{1ACDFC06-3EF4-4F20-B114-C277BEFF5897}" destId="{03B7B538-DCD3-42C5-BC3B-D58AD2C13AC8}" srcOrd="1" destOrd="0" presId="urn:microsoft.com/office/officeart/2018/2/layout/IconLabelList"/>
    <dgm:cxn modelId="{3C462225-377B-EA44-8DA6-D2B2E50D4B23}" type="presParOf" srcId="{1ACDFC06-3EF4-4F20-B114-C277BEFF5897}" destId="{DDDCA7DE-D888-43CF-9021-CCDA173E267A}" srcOrd="2" destOrd="0" presId="urn:microsoft.com/office/officeart/2018/2/layout/IconLabelList"/>
    <dgm:cxn modelId="{B24395D4-D639-7344-ABAC-7921963A0B79}" type="presParOf" srcId="{DDDCA7DE-D888-43CF-9021-CCDA173E267A}" destId="{814105F1-BCA9-4B12-B862-987FCAF973DD}" srcOrd="0" destOrd="0" presId="urn:microsoft.com/office/officeart/2018/2/layout/IconLabelList"/>
    <dgm:cxn modelId="{D7004E7C-7F95-6E4E-B22D-013E4269B819}" type="presParOf" srcId="{DDDCA7DE-D888-43CF-9021-CCDA173E267A}" destId="{83505F72-837A-4E19-B72E-ECE1E1C488D0}" srcOrd="1" destOrd="0" presId="urn:microsoft.com/office/officeart/2018/2/layout/IconLabelList"/>
    <dgm:cxn modelId="{5C219BC9-E356-5B40-BD47-1630D4AE956D}" type="presParOf" srcId="{DDDCA7DE-D888-43CF-9021-CCDA173E267A}" destId="{42ADAB93-E2E0-4074-8142-0DE9F50E907C}" srcOrd="2" destOrd="0" presId="urn:microsoft.com/office/officeart/2018/2/layout/IconLabelList"/>
    <dgm:cxn modelId="{92627037-B351-0F4A-97F7-C69481B7C570}" type="presParOf" srcId="{1ACDFC06-3EF4-4F20-B114-C277BEFF5897}" destId="{B3DB2270-F542-48D9-8857-598C43573ADC}" srcOrd="3" destOrd="0" presId="urn:microsoft.com/office/officeart/2018/2/layout/IconLabelList"/>
    <dgm:cxn modelId="{13C8CD98-DCC6-7944-A241-8077DBDB0595}" type="presParOf" srcId="{1ACDFC06-3EF4-4F20-B114-C277BEFF5897}" destId="{90CCD50A-E8FF-4E04-AC2A-4C72448E8F39}" srcOrd="4" destOrd="0" presId="urn:microsoft.com/office/officeart/2018/2/layout/IconLabelList"/>
    <dgm:cxn modelId="{A32A51DC-379E-8C45-9B5C-45959AF7B977}" type="presParOf" srcId="{90CCD50A-E8FF-4E04-AC2A-4C72448E8F39}" destId="{FFA91142-C8C9-47B7-BFA8-63E4A1630F9D}" srcOrd="0" destOrd="0" presId="urn:microsoft.com/office/officeart/2018/2/layout/IconLabelList"/>
    <dgm:cxn modelId="{E9A4963A-7D97-D24E-96F0-776B7F282E9A}" type="presParOf" srcId="{90CCD50A-E8FF-4E04-AC2A-4C72448E8F39}" destId="{889B9095-CFDC-4908-9350-8D3851B70EC1}" srcOrd="1" destOrd="0" presId="urn:microsoft.com/office/officeart/2018/2/layout/IconLabelList"/>
    <dgm:cxn modelId="{3FF5C7E5-CEDA-ED44-BAE9-2558AA30E9E2}" type="presParOf" srcId="{90CCD50A-E8FF-4E04-AC2A-4C72448E8F39}" destId="{7BE0CD95-3511-4098-9A29-3FEF413BADF6}" srcOrd="2" destOrd="0" presId="urn:microsoft.com/office/officeart/2018/2/layout/IconLabelList"/>
    <dgm:cxn modelId="{DC16AAF8-47B4-0E47-8E23-494FA925C4F1}" type="presParOf" srcId="{1ACDFC06-3EF4-4F20-B114-C277BEFF5897}" destId="{A1221D3C-73BF-3045-AC08-B41A7543F16A}" srcOrd="5" destOrd="0" presId="urn:microsoft.com/office/officeart/2018/2/layout/IconLabelList"/>
    <dgm:cxn modelId="{ACC74C22-BA4D-E749-9887-1D1B03A08FBA}" type="presParOf" srcId="{1ACDFC06-3EF4-4F20-B114-C277BEFF5897}" destId="{F7983DC5-B81A-41FA-B807-BE5E1EF03D82}" srcOrd="6" destOrd="0" presId="urn:microsoft.com/office/officeart/2018/2/layout/IconLabelList"/>
    <dgm:cxn modelId="{7AC3A31F-B2CA-D34F-B4AB-3DF75B7E5645}" type="presParOf" srcId="{F7983DC5-B81A-41FA-B807-BE5E1EF03D82}" destId="{D7EF4368-79F4-46BB-9D1C-2E2696BEED36}" srcOrd="0" destOrd="0" presId="urn:microsoft.com/office/officeart/2018/2/layout/IconLabelList"/>
    <dgm:cxn modelId="{AE447572-01B3-1048-9FF3-B5E27678D251}" type="presParOf" srcId="{F7983DC5-B81A-41FA-B807-BE5E1EF03D82}" destId="{AF343844-828B-4D99-B7C1-4998378B0B5D}" srcOrd="1" destOrd="0" presId="urn:microsoft.com/office/officeart/2018/2/layout/IconLabelList"/>
    <dgm:cxn modelId="{329F95B2-C82B-0F4F-863D-676611E68359}" type="presParOf" srcId="{F7983DC5-B81A-41FA-B807-BE5E1EF03D82}" destId="{A3E06915-9D78-4120-8D40-B0D5007CECE9}" srcOrd="2" destOrd="0" presId="urn:microsoft.com/office/officeart/2018/2/layout/IconLabelList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32E32B2-8278-7A40-B026-044711E41765}" type="doc">
      <dgm:prSet loTypeId="urn:microsoft.com/office/officeart/2005/8/layout/chevron1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47FCA2A-E314-6D4F-A23B-FBB71B39FD88}">
      <dgm:prSet phldrT="[Text]" custT="1"/>
      <dgm:spPr/>
      <dgm:t>
        <a:bodyPr/>
        <a:lstStyle/>
        <a:p>
          <a:r>
            <a:rPr lang="en-US" sz="1600" dirty="0">
              <a:latin typeface="Arial" panose="020B0604020202020204" pitchFamily="34" charset="0"/>
              <a:cs typeface="Arial" panose="020B0604020202020204" pitchFamily="34" charset="0"/>
            </a:rPr>
            <a:t>Production Forecast</a:t>
          </a:r>
        </a:p>
      </dgm:t>
    </dgm:pt>
    <dgm:pt modelId="{F12346AF-8486-AC49-A605-1B2ADEDD8F01}" type="parTrans" cxnId="{CD1FBD00-D06A-904E-9C33-E4E8F356B4AE}">
      <dgm:prSet/>
      <dgm:spPr/>
      <dgm:t>
        <a:bodyPr/>
        <a:lstStyle/>
        <a:p>
          <a:endParaRPr lang="en-US" sz="16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8CC3D64-5702-F245-B360-409F4E40EE09}" type="sibTrans" cxnId="{CD1FBD00-D06A-904E-9C33-E4E8F356B4AE}">
      <dgm:prSet/>
      <dgm:spPr/>
      <dgm:t>
        <a:bodyPr/>
        <a:lstStyle/>
        <a:p>
          <a:endParaRPr lang="en-US" sz="16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E9A7E96-96FE-E24A-B834-E1515FEF5071}">
      <dgm:prSet phldrT="[Text]" custT="1"/>
      <dgm:spPr/>
      <dgm:t>
        <a:bodyPr/>
        <a:lstStyle/>
        <a:p>
          <a:pPr>
            <a:buNone/>
          </a:pPr>
          <a:r>
            <a:rPr lang="en-US" sz="1600" dirty="0">
              <a:latin typeface="Arial" panose="020B0604020202020204" pitchFamily="34" charset="0"/>
              <a:cs typeface="Arial" panose="020B0604020202020204" pitchFamily="34" charset="0"/>
            </a:rPr>
            <a:t>EBITDA $25.78/BOE</a:t>
          </a:r>
        </a:p>
      </dgm:t>
    </dgm:pt>
    <dgm:pt modelId="{F329CAA1-8911-2E4E-A909-A0F7F7BA75C6}" type="parTrans" cxnId="{6BEDAEC5-323F-7543-A2E9-9FCFB4265A87}">
      <dgm:prSet/>
      <dgm:spPr/>
      <dgm:t>
        <a:bodyPr/>
        <a:lstStyle/>
        <a:p>
          <a:endParaRPr lang="en-US" sz="16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BAD1FF8-5FC4-F94A-83AA-8F2D413BAD60}" type="sibTrans" cxnId="{6BEDAEC5-323F-7543-A2E9-9FCFB4265A87}">
      <dgm:prSet/>
      <dgm:spPr/>
      <dgm:t>
        <a:bodyPr/>
        <a:lstStyle/>
        <a:p>
          <a:endParaRPr lang="en-US" sz="16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12D146B-4584-F041-B986-5DDC0590870A}">
      <dgm:prSet phldrT="[Text]" custT="1"/>
      <dgm:spPr/>
      <dgm:t>
        <a:bodyPr/>
        <a:lstStyle/>
        <a:p>
          <a:r>
            <a:rPr lang="en-US" sz="1600" dirty="0">
              <a:latin typeface="Arial" panose="020B0604020202020204" pitchFamily="34" charset="0"/>
              <a:cs typeface="Arial" panose="020B0604020202020204" pitchFamily="34" charset="0"/>
            </a:rPr>
            <a:t>Revenue $40.37/BOE</a:t>
          </a:r>
          <a:r>
            <a:rPr lang="en-US" sz="1600" baseline="30000" dirty="0">
              <a:latin typeface="Arial" panose="020B0604020202020204" pitchFamily="34" charset="0"/>
              <a:cs typeface="Arial" panose="020B0604020202020204" pitchFamily="34" charset="0"/>
            </a:rPr>
            <a:t>(2)</a:t>
          </a:r>
          <a:r>
            <a:rPr lang="en-US" sz="16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</a:p>
      </dgm:t>
    </dgm:pt>
    <dgm:pt modelId="{05553279-5D6A-E14E-9DBD-AE7B1EF7CA7F}" type="parTrans" cxnId="{72A8B226-7F2C-734F-833B-39A69397201C}">
      <dgm:prSet/>
      <dgm:spPr/>
      <dgm:t>
        <a:bodyPr/>
        <a:lstStyle/>
        <a:p>
          <a:endParaRPr lang="en-US" sz="16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3B4171C-993A-834F-9504-F4943028A340}" type="sibTrans" cxnId="{72A8B226-7F2C-734F-833B-39A69397201C}">
      <dgm:prSet/>
      <dgm:spPr/>
      <dgm:t>
        <a:bodyPr/>
        <a:lstStyle/>
        <a:p>
          <a:endParaRPr lang="en-US" sz="16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D1055D4-0561-CE44-9E7B-C74F56C151DF}">
      <dgm:prSet phldrT="[Text]" custT="1"/>
      <dgm:spPr/>
      <dgm:t>
        <a:bodyPr/>
        <a:lstStyle/>
        <a:p>
          <a:pPr>
            <a:buNone/>
          </a:pPr>
          <a:r>
            <a:rPr lang="en-US" sz="1600" dirty="0">
              <a:latin typeface="Arial" panose="020B0604020202020204" pitchFamily="34" charset="0"/>
              <a:cs typeface="Arial" panose="020B0604020202020204" pitchFamily="34" charset="0"/>
            </a:rPr>
            <a:t>~$475MM </a:t>
          </a:r>
        </a:p>
        <a:p>
          <a:pPr>
            <a:buNone/>
          </a:pPr>
          <a:r>
            <a:rPr lang="en-US" sz="1600" dirty="0">
              <a:latin typeface="Arial" panose="020B0604020202020204" pitchFamily="34" charset="0"/>
              <a:cs typeface="Arial" panose="020B0604020202020204" pitchFamily="34" charset="0"/>
            </a:rPr>
            <a:t>Year 1 FCF</a:t>
          </a:r>
        </a:p>
      </dgm:t>
    </dgm:pt>
    <dgm:pt modelId="{78D96F3A-C963-F44F-BF2D-F3D9FD34246D}" type="parTrans" cxnId="{E96F58E1-9940-AB4E-997F-F79B3DCC62FF}">
      <dgm:prSet/>
      <dgm:spPr/>
      <dgm:t>
        <a:bodyPr/>
        <a:lstStyle/>
        <a:p>
          <a:endParaRPr lang="en-US" sz="16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B5FCFF2-32A3-5B4B-BB0B-6A1E25A4487B}" type="sibTrans" cxnId="{E96F58E1-9940-AB4E-997F-F79B3DCC62FF}">
      <dgm:prSet/>
      <dgm:spPr/>
      <dgm:t>
        <a:bodyPr/>
        <a:lstStyle/>
        <a:p>
          <a:endParaRPr lang="en-US" sz="16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9C76EE1-A638-A248-AE4D-3D53977C0B32}">
      <dgm:prSet phldrT="[Text]" custT="1"/>
      <dgm:spPr/>
      <dgm:t>
        <a:bodyPr/>
        <a:lstStyle/>
        <a:p>
          <a:pPr>
            <a:buNone/>
          </a:pPr>
          <a:r>
            <a:rPr lang="en-US" sz="1600" dirty="0">
              <a:latin typeface="Arial" panose="020B0604020202020204" pitchFamily="34" charset="0"/>
              <a:cs typeface="Arial" panose="020B0604020202020204" pitchFamily="34" charset="0"/>
            </a:rPr>
            <a:t>PV-10 $3.1Bn</a:t>
          </a:r>
          <a:r>
            <a:rPr lang="en-US" sz="1600" baseline="30000" dirty="0">
              <a:latin typeface="Arial" panose="020B0604020202020204" pitchFamily="34" charset="0"/>
              <a:cs typeface="Arial" panose="020B0604020202020204" pitchFamily="34" charset="0"/>
            </a:rPr>
            <a:t>(2)</a:t>
          </a:r>
          <a:endParaRPr lang="en-US" sz="16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723B5B4-61E0-C84D-A64D-F8149A93B924}" type="parTrans" cxnId="{EEA93A0A-B905-E246-8DEC-B4A9C4D383B7}">
      <dgm:prSet/>
      <dgm:spPr/>
      <dgm:t>
        <a:bodyPr/>
        <a:lstStyle/>
        <a:p>
          <a:endParaRPr lang="en-US" sz="16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982C134-BC8D-DC48-BB95-A4C0314CAD5C}" type="sibTrans" cxnId="{EEA93A0A-B905-E246-8DEC-B4A9C4D383B7}">
      <dgm:prSet/>
      <dgm:spPr/>
      <dgm:t>
        <a:bodyPr/>
        <a:lstStyle/>
        <a:p>
          <a:endParaRPr lang="en-US" sz="16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0E124D4-189E-CE40-B37F-553E2D327068}" type="pres">
      <dgm:prSet presAssocID="{C32E32B2-8278-7A40-B026-044711E41765}" presName="Name0" presStyleCnt="0">
        <dgm:presLayoutVars>
          <dgm:dir/>
          <dgm:animLvl val="lvl"/>
          <dgm:resizeHandles val="exact"/>
        </dgm:presLayoutVars>
      </dgm:prSet>
      <dgm:spPr/>
    </dgm:pt>
    <dgm:pt modelId="{6C6A6FD1-1657-B446-96C5-53796F0A5A2C}" type="pres">
      <dgm:prSet presAssocID="{147FCA2A-E314-6D4F-A23B-FBB71B39FD88}" presName="parTxOnly" presStyleLbl="node1" presStyleIdx="0" presStyleCnt="5">
        <dgm:presLayoutVars>
          <dgm:chMax val="0"/>
          <dgm:chPref val="0"/>
          <dgm:bulletEnabled val="1"/>
        </dgm:presLayoutVars>
      </dgm:prSet>
      <dgm:spPr/>
    </dgm:pt>
    <dgm:pt modelId="{1DCF77AA-5918-CB47-AAA7-197DAA9EFC07}" type="pres">
      <dgm:prSet presAssocID="{68CC3D64-5702-F245-B360-409F4E40EE09}" presName="parTxOnlySpace" presStyleCnt="0"/>
      <dgm:spPr/>
    </dgm:pt>
    <dgm:pt modelId="{8E5EB7D7-39EC-8D45-9521-D92AFF41FA86}" type="pres">
      <dgm:prSet presAssocID="{A12D146B-4584-F041-B986-5DDC0590870A}" presName="parTxOnly" presStyleLbl="node1" presStyleIdx="1" presStyleCnt="5">
        <dgm:presLayoutVars>
          <dgm:chMax val="0"/>
          <dgm:chPref val="0"/>
          <dgm:bulletEnabled val="1"/>
        </dgm:presLayoutVars>
      </dgm:prSet>
      <dgm:spPr/>
    </dgm:pt>
    <dgm:pt modelId="{F068C52A-D07E-F541-9534-3293A2A7E0CB}" type="pres">
      <dgm:prSet presAssocID="{33B4171C-993A-834F-9504-F4943028A340}" presName="parTxOnlySpace" presStyleCnt="0"/>
      <dgm:spPr/>
    </dgm:pt>
    <dgm:pt modelId="{AB571E2C-C84F-6148-BFA7-8DC89D88C050}" type="pres">
      <dgm:prSet presAssocID="{DE9A7E96-96FE-E24A-B834-E1515FEF5071}" presName="parTxOnly" presStyleLbl="node1" presStyleIdx="2" presStyleCnt="5">
        <dgm:presLayoutVars>
          <dgm:chMax val="0"/>
          <dgm:chPref val="0"/>
          <dgm:bulletEnabled val="1"/>
        </dgm:presLayoutVars>
      </dgm:prSet>
      <dgm:spPr/>
    </dgm:pt>
    <dgm:pt modelId="{E677209C-9BED-D34F-BB0B-EDB98CBFE08B}" type="pres">
      <dgm:prSet presAssocID="{0BAD1FF8-5FC4-F94A-83AA-8F2D413BAD60}" presName="parTxOnlySpace" presStyleCnt="0"/>
      <dgm:spPr/>
    </dgm:pt>
    <dgm:pt modelId="{034C30B2-668F-C541-9972-BF791A5406D0}" type="pres">
      <dgm:prSet presAssocID="{CD1055D4-0561-CE44-9E7B-C74F56C151DF}" presName="parTxOnly" presStyleLbl="node1" presStyleIdx="3" presStyleCnt="5">
        <dgm:presLayoutVars>
          <dgm:chMax val="0"/>
          <dgm:chPref val="0"/>
          <dgm:bulletEnabled val="1"/>
        </dgm:presLayoutVars>
      </dgm:prSet>
      <dgm:spPr/>
    </dgm:pt>
    <dgm:pt modelId="{22D093E1-46E6-724E-83C1-636C9BBCF487}" type="pres">
      <dgm:prSet presAssocID="{9B5FCFF2-32A3-5B4B-BB0B-6A1E25A4487B}" presName="parTxOnlySpace" presStyleCnt="0"/>
      <dgm:spPr/>
    </dgm:pt>
    <dgm:pt modelId="{5E7C07D8-7209-8342-84A4-49398B24878E}" type="pres">
      <dgm:prSet presAssocID="{E9C76EE1-A638-A248-AE4D-3D53977C0B32}" presName="parTxOnly" presStyleLbl="node1" presStyleIdx="4" presStyleCnt="5">
        <dgm:presLayoutVars>
          <dgm:chMax val="0"/>
          <dgm:chPref val="0"/>
          <dgm:bulletEnabled val="1"/>
        </dgm:presLayoutVars>
      </dgm:prSet>
      <dgm:spPr/>
    </dgm:pt>
  </dgm:ptLst>
  <dgm:cxnLst>
    <dgm:cxn modelId="{CD1FBD00-D06A-904E-9C33-E4E8F356B4AE}" srcId="{C32E32B2-8278-7A40-B026-044711E41765}" destId="{147FCA2A-E314-6D4F-A23B-FBB71B39FD88}" srcOrd="0" destOrd="0" parTransId="{F12346AF-8486-AC49-A605-1B2ADEDD8F01}" sibTransId="{68CC3D64-5702-F245-B360-409F4E40EE09}"/>
    <dgm:cxn modelId="{EEA93A0A-B905-E246-8DEC-B4A9C4D383B7}" srcId="{C32E32B2-8278-7A40-B026-044711E41765}" destId="{E9C76EE1-A638-A248-AE4D-3D53977C0B32}" srcOrd="4" destOrd="0" parTransId="{8723B5B4-61E0-C84D-A64D-F8149A93B924}" sibTransId="{8982C134-BC8D-DC48-BB95-A4C0314CAD5C}"/>
    <dgm:cxn modelId="{72A8B226-7F2C-734F-833B-39A69397201C}" srcId="{C32E32B2-8278-7A40-B026-044711E41765}" destId="{A12D146B-4584-F041-B986-5DDC0590870A}" srcOrd="1" destOrd="0" parTransId="{05553279-5D6A-E14E-9DBD-AE7B1EF7CA7F}" sibTransId="{33B4171C-993A-834F-9504-F4943028A340}"/>
    <dgm:cxn modelId="{BB702A27-D097-7648-A2F3-154D321E5084}" type="presOf" srcId="{C32E32B2-8278-7A40-B026-044711E41765}" destId="{80E124D4-189E-CE40-B37F-553E2D327068}" srcOrd="0" destOrd="0" presId="urn:microsoft.com/office/officeart/2005/8/layout/chevron1"/>
    <dgm:cxn modelId="{C1F8BF5B-6189-8B4D-9A87-9FAA47E68D29}" type="presOf" srcId="{A12D146B-4584-F041-B986-5DDC0590870A}" destId="{8E5EB7D7-39EC-8D45-9521-D92AFF41FA86}" srcOrd="0" destOrd="0" presId="urn:microsoft.com/office/officeart/2005/8/layout/chevron1"/>
    <dgm:cxn modelId="{771E2C5C-F9EC-C241-A7D9-52E7FC2F06B1}" type="presOf" srcId="{147FCA2A-E314-6D4F-A23B-FBB71B39FD88}" destId="{6C6A6FD1-1657-B446-96C5-53796F0A5A2C}" srcOrd="0" destOrd="0" presId="urn:microsoft.com/office/officeart/2005/8/layout/chevron1"/>
    <dgm:cxn modelId="{F4FDF68C-7CC1-EC4E-9A7B-7EF448B6A63E}" type="presOf" srcId="{DE9A7E96-96FE-E24A-B834-E1515FEF5071}" destId="{AB571E2C-C84F-6148-BFA7-8DC89D88C050}" srcOrd="0" destOrd="0" presId="urn:microsoft.com/office/officeart/2005/8/layout/chevron1"/>
    <dgm:cxn modelId="{98F85EC2-0D49-A14B-B0F1-CCEF0610540C}" type="presOf" srcId="{E9C76EE1-A638-A248-AE4D-3D53977C0B32}" destId="{5E7C07D8-7209-8342-84A4-49398B24878E}" srcOrd="0" destOrd="0" presId="urn:microsoft.com/office/officeart/2005/8/layout/chevron1"/>
    <dgm:cxn modelId="{E5E773C5-4106-8A45-8A79-665927F307B0}" type="presOf" srcId="{CD1055D4-0561-CE44-9E7B-C74F56C151DF}" destId="{034C30B2-668F-C541-9972-BF791A5406D0}" srcOrd="0" destOrd="0" presId="urn:microsoft.com/office/officeart/2005/8/layout/chevron1"/>
    <dgm:cxn modelId="{6BEDAEC5-323F-7543-A2E9-9FCFB4265A87}" srcId="{C32E32B2-8278-7A40-B026-044711E41765}" destId="{DE9A7E96-96FE-E24A-B834-E1515FEF5071}" srcOrd="2" destOrd="0" parTransId="{F329CAA1-8911-2E4E-A909-A0F7F7BA75C6}" sibTransId="{0BAD1FF8-5FC4-F94A-83AA-8F2D413BAD60}"/>
    <dgm:cxn modelId="{E96F58E1-9940-AB4E-997F-F79B3DCC62FF}" srcId="{C32E32B2-8278-7A40-B026-044711E41765}" destId="{CD1055D4-0561-CE44-9E7B-C74F56C151DF}" srcOrd="3" destOrd="0" parTransId="{78D96F3A-C963-F44F-BF2D-F3D9FD34246D}" sibTransId="{9B5FCFF2-32A3-5B4B-BB0B-6A1E25A4487B}"/>
    <dgm:cxn modelId="{16CF30C5-0918-2D4B-9121-480CF20A26E8}" type="presParOf" srcId="{80E124D4-189E-CE40-B37F-553E2D327068}" destId="{6C6A6FD1-1657-B446-96C5-53796F0A5A2C}" srcOrd="0" destOrd="0" presId="urn:microsoft.com/office/officeart/2005/8/layout/chevron1"/>
    <dgm:cxn modelId="{9C0C0106-C740-B145-B1CD-DB586C21217D}" type="presParOf" srcId="{80E124D4-189E-CE40-B37F-553E2D327068}" destId="{1DCF77AA-5918-CB47-AAA7-197DAA9EFC07}" srcOrd="1" destOrd="0" presId="urn:microsoft.com/office/officeart/2005/8/layout/chevron1"/>
    <dgm:cxn modelId="{A757FB43-93B6-7A43-AE42-A2D20225DDCE}" type="presParOf" srcId="{80E124D4-189E-CE40-B37F-553E2D327068}" destId="{8E5EB7D7-39EC-8D45-9521-D92AFF41FA86}" srcOrd="2" destOrd="0" presId="urn:microsoft.com/office/officeart/2005/8/layout/chevron1"/>
    <dgm:cxn modelId="{1D11384B-D26A-1F43-AD76-39AAF5F9DA88}" type="presParOf" srcId="{80E124D4-189E-CE40-B37F-553E2D327068}" destId="{F068C52A-D07E-F541-9534-3293A2A7E0CB}" srcOrd="3" destOrd="0" presId="urn:microsoft.com/office/officeart/2005/8/layout/chevron1"/>
    <dgm:cxn modelId="{CD5DF616-35B2-EE44-A45C-785CFA07F4C2}" type="presParOf" srcId="{80E124D4-189E-CE40-B37F-553E2D327068}" destId="{AB571E2C-C84F-6148-BFA7-8DC89D88C050}" srcOrd="4" destOrd="0" presId="urn:microsoft.com/office/officeart/2005/8/layout/chevron1"/>
    <dgm:cxn modelId="{58897CE7-9470-4A45-9BAB-AB317860857C}" type="presParOf" srcId="{80E124D4-189E-CE40-B37F-553E2D327068}" destId="{E677209C-9BED-D34F-BB0B-EDB98CBFE08B}" srcOrd="5" destOrd="0" presId="urn:microsoft.com/office/officeart/2005/8/layout/chevron1"/>
    <dgm:cxn modelId="{EBEF3413-AAB1-684A-851F-E0C7CCDBEBE5}" type="presParOf" srcId="{80E124D4-189E-CE40-B37F-553E2D327068}" destId="{034C30B2-668F-C541-9972-BF791A5406D0}" srcOrd="6" destOrd="0" presId="urn:microsoft.com/office/officeart/2005/8/layout/chevron1"/>
    <dgm:cxn modelId="{24D92A99-D744-6A43-8802-EB5A2EB09441}" type="presParOf" srcId="{80E124D4-189E-CE40-B37F-553E2D327068}" destId="{22D093E1-46E6-724E-83C1-636C9BBCF487}" srcOrd="7" destOrd="0" presId="urn:microsoft.com/office/officeart/2005/8/layout/chevron1"/>
    <dgm:cxn modelId="{6E5C2682-1BF5-A945-A205-14DD81A0B56D}" type="presParOf" srcId="{80E124D4-189E-CE40-B37F-553E2D327068}" destId="{5E7C07D8-7209-8342-84A4-49398B24878E}" srcOrd="8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704ADCB-C690-4F21-B2CB-1D47A41C82A1}">
      <dsp:nvSpPr>
        <dsp:cNvPr id="0" name=""/>
        <dsp:cNvSpPr/>
      </dsp:nvSpPr>
      <dsp:spPr>
        <a:xfrm>
          <a:off x="953182" y="153618"/>
          <a:ext cx="643886" cy="64388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356800A-5337-4365-AE34-1EB1F4126F34}">
      <dsp:nvSpPr>
        <dsp:cNvPr id="0" name=""/>
        <dsp:cNvSpPr/>
      </dsp:nvSpPr>
      <dsp:spPr>
        <a:xfrm>
          <a:off x="559696" y="1012214"/>
          <a:ext cx="1430859" cy="5723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latin typeface="Arial" panose="020B0604020202020204" pitchFamily="34" charset="0"/>
              <a:cs typeface="Arial" panose="020B0604020202020204" pitchFamily="34" charset="0"/>
            </a:rPr>
            <a:t>1. Sourced production data from Texas RRC</a:t>
          </a:r>
          <a:r>
            <a:rPr lang="en-US" sz="1200" kern="1200" baseline="30000" dirty="0">
              <a:latin typeface="Arial" panose="020B0604020202020204" pitchFamily="34" charset="0"/>
              <a:cs typeface="Arial" panose="020B0604020202020204" pitchFamily="34" charset="0"/>
            </a:rPr>
            <a:t>(1)</a:t>
          </a:r>
          <a:endParaRPr lang="en-US" sz="12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559696" y="1012214"/>
        <a:ext cx="1430859" cy="572343"/>
      </dsp:txXfrm>
    </dsp:sp>
    <dsp:sp modelId="{814105F1-BCA9-4B12-B862-987FCAF973DD}">
      <dsp:nvSpPr>
        <dsp:cNvPr id="0" name=""/>
        <dsp:cNvSpPr/>
      </dsp:nvSpPr>
      <dsp:spPr>
        <a:xfrm>
          <a:off x="2634442" y="153618"/>
          <a:ext cx="643886" cy="64388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ADAB93-E2E0-4074-8142-0DE9F50E907C}">
      <dsp:nvSpPr>
        <dsp:cNvPr id="0" name=""/>
        <dsp:cNvSpPr/>
      </dsp:nvSpPr>
      <dsp:spPr>
        <a:xfrm>
          <a:off x="2240956" y="1012214"/>
          <a:ext cx="1430859" cy="5723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latin typeface="Arial" panose="020B0604020202020204" pitchFamily="34" charset="0"/>
              <a:cs typeface="Arial" panose="020B0604020202020204" pitchFamily="34" charset="0"/>
            </a:rPr>
            <a:t>2. Screened 100 top leases across 5 counties</a:t>
          </a:r>
          <a:r>
            <a:rPr lang="en-US" sz="1200" kern="1200" baseline="30000" dirty="0">
              <a:latin typeface="Arial" panose="020B0604020202020204" pitchFamily="34" charset="0"/>
              <a:cs typeface="Arial" panose="020B0604020202020204" pitchFamily="34" charset="0"/>
            </a:rPr>
            <a:t>(2)</a:t>
          </a:r>
          <a:endParaRPr lang="en-US" sz="12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2240956" y="1012214"/>
        <a:ext cx="1430859" cy="572343"/>
      </dsp:txXfrm>
    </dsp:sp>
    <dsp:sp modelId="{FFA91142-C8C9-47B7-BFA8-63E4A1630F9D}">
      <dsp:nvSpPr>
        <dsp:cNvPr id="0" name=""/>
        <dsp:cNvSpPr/>
      </dsp:nvSpPr>
      <dsp:spPr>
        <a:xfrm>
          <a:off x="953182" y="1942273"/>
          <a:ext cx="643886" cy="64388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E0CD95-3511-4098-9A29-3FEF413BADF6}">
      <dsp:nvSpPr>
        <dsp:cNvPr id="0" name=""/>
        <dsp:cNvSpPr/>
      </dsp:nvSpPr>
      <dsp:spPr>
        <a:xfrm>
          <a:off x="559696" y="2800869"/>
          <a:ext cx="1430859" cy="5723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latin typeface="Arial" panose="020B0604020202020204" pitchFamily="34" charset="0"/>
              <a:cs typeface="Arial" panose="020B0604020202020204" pitchFamily="34" charset="0"/>
            </a:rPr>
            <a:t>3. Fit Arps decline curves by basin</a:t>
          </a:r>
          <a:r>
            <a:rPr lang="en-US" sz="1200" kern="1200" baseline="30000" dirty="0">
              <a:latin typeface="Arial" panose="020B0604020202020204" pitchFamily="34" charset="0"/>
              <a:cs typeface="Arial" panose="020B0604020202020204" pitchFamily="34" charset="0"/>
            </a:rPr>
            <a:t>(2)</a:t>
          </a:r>
          <a:endParaRPr lang="en-US" sz="12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559696" y="2800869"/>
        <a:ext cx="1430859" cy="572343"/>
      </dsp:txXfrm>
    </dsp:sp>
    <dsp:sp modelId="{D7EF4368-79F4-46BB-9D1C-2E2696BEED36}">
      <dsp:nvSpPr>
        <dsp:cNvPr id="0" name=""/>
        <dsp:cNvSpPr/>
      </dsp:nvSpPr>
      <dsp:spPr>
        <a:xfrm>
          <a:off x="2634442" y="1942273"/>
          <a:ext cx="643886" cy="64388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3E06915-9D78-4120-8D40-B0D5007CECE9}">
      <dsp:nvSpPr>
        <dsp:cNvPr id="0" name=""/>
        <dsp:cNvSpPr/>
      </dsp:nvSpPr>
      <dsp:spPr>
        <a:xfrm>
          <a:off x="2240956" y="2800869"/>
          <a:ext cx="1430859" cy="5723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latin typeface="Arial" panose="020B0604020202020204" pitchFamily="34" charset="0"/>
              <a:cs typeface="Arial" panose="020B0604020202020204" pitchFamily="34" charset="0"/>
            </a:rPr>
            <a:t>4. Forecast 15-yr production by basin</a:t>
          </a:r>
          <a:r>
            <a:rPr lang="en-US" sz="1200" kern="1200" baseline="30000" dirty="0">
              <a:latin typeface="Arial" panose="020B0604020202020204" pitchFamily="34" charset="0"/>
              <a:cs typeface="Arial" panose="020B0604020202020204" pitchFamily="34" charset="0"/>
            </a:rPr>
            <a:t>(2)</a:t>
          </a:r>
          <a:endParaRPr lang="en-US" sz="12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2240956" y="2800869"/>
        <a:ext cx="1430859" cy="57234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C6A6FD1-1657-B446-96C5-53796F0A5A2C}">
      <dsp:nvSpPr>
        <dsp:cNvPr id="0" name=""/>
        <dsp:cNvSpPr/>
      </dsp:nvSpPr>
      <dsp:spPr>
        <a:xfrm>
          <a:off x="2670" y="253948"/>
          <a:ext cx="2376681" cy="95067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Arial" panose="020B0604020202020204" pitchFamily="34" charset="0"/>
              <a:cs typeface="Arial" panose="020B0604020202020204" pitchFamily="34" charset="0"/>
            </a:rPr>
            <a:t>Production Forecast</a:t>
          </a:r>
        </a:p>
      </dsp:txBody>
      <dsp:txXfrm>
        <a:off x="478006" y="253948"/>
        <a:ext cx="1426009" cy="950672"/>
      </dsp:txXfrm>
    </dsp:sp>
    <dsp:sp modelId="{8E5EB7D7-39EC-8D45-9521-D92AFF41FA86}">
      <dsp:nvSpPr>
        <dsp:cNvPr id="0" name=""/>
        <dsp:cNvSpPr/>
      </dsp:nvSpPr>
      <dsp:spPr>
        <a:xfrm>
          <a:off x="2141683" y="253948"/>
          <a:ext cx="2376681" cy="95067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Arial" panose="020B0604020202020204" pitchFamily="34" charset="0"/>
              <a:cs typeface="Arial" panose="020B0604020202020204" pitchFamily="34" charset="0"/>
            </a:rPr>
            <a:t>Revenue $40.37/BOE</a:t>
          </a:r>
          <a:r>
            <a:rPr lang="en-US" sz="1600" kern="1200" baseline="30000" dirty="0">
              <a:latin typeface="Arial" panose="020B0604020202020204" pitchFamily="34" charset="0"/>
              <a:cs typeface="Arial" panose="020B0604020202020204" pitchFamily="34" charset="0"/>
            </a:rPr>
            <a:t>(2)</a:t>
          </a:r>
          <a:r>
            <a:rPr lang="en-US" sz="16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</a:p>
      </dsp:txBody>
      <dsp:txXfrm>
        <a:off x="2617019" y="253948"/>
        <a:ext cx="1426009" cy="950672"/>
      </dsp:txXfrm>
    </dsp:sp>
    <dsp:sp modelId="{AB571E2C-C84F-6148-BFA7-8DC89D88C050}">
      <dsp:nvSpPr>
        <dsp:cNvPr id="0" name=""/>
        <dsp:cNvSpPr/>
      </dsp:nvSpPr>
      <dsp:spPr>
        <a:xfrm>
          <a:off x="4280697" y="253948"/>
          <a:ext cx="2376681" cy="95067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Arial" panose="020B0604020202020204" pitchFamily="34" charset="0"/>
              <a:cs typeface="Arial" panose="020B0604020202020204" pitchFamily="34" charset="0"/>
            </a:rPr>
            <a:t>EBITDA $25.78/BOE</a:t>
          </a:r>
        </a:p>
      </dsp:txBody>
      <dsp:txXfrm>
        <a:off x="4756033" y="253948"/>
        <a:ext cx="1426009" cy="950672"/>
      </dsp:txXfrm>
    </dsp:sp>
    <dsp:sp modelId="{034C30B2-668F-C541-9972-BF791A5406D0}">
      <dsp:nvSpPr>
        <dsp:cNvPr id="0" name=""/>
        <dsp:cNvSpPr/>
      </dsp:nvSpPr>
      <dsp:spPr>
        <a:xfrm>
          <a:off x="6419710" y="253948"/>
          <a:ext cx="2376681" cy="95067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Arial" panose="020B0604020202020204" pitchFamily="34" charset="0"/>
              <a:cs typeface="Arial" panose="020B0604020202020204" pitchFamily="34" charset="0"/>
            </a:rPr>
            <a:t>~$475MM 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Arial" panose="020B0604020202020204" pitchFamily="34" charset="0"/>
              <a:cs typeface="Arial" panose="020B0604020202020204" pitchFamily="34" charset="0"/>
            </a:rPr>
            <a:t>Year 1 FCF</a:t>
          </a:r>
        </a:p>
      </dsp:txBody>
      <dsp:txXfrm>
        <a:off x="6895046" y="253948"/>
        <a:ext cx="1426009" cy="950672"/>
      </dsp:txXfrm>
    </dsp:sp>
    <dsp:sp modelId="{5E7C07D8-7209-8342-84A4-49398B24878E}">
      <dsp:nvSpPr>
        <dsp:cNvPr id="0" name=""/>
        <dsp:cNvSpPr/>
      </dsp:nvSpPr>
      <dsp:spPr>
        <a:xfrm>
          <a:off x="8558724" y="253948"/>
          <a:ext cx="2376681" cy="95067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Arial" panose="020B0604020202020204" pitchFamily="34" charset="0"/>
              <a:cs typeface="Arial" panose="020B0604020202020204" pitchFamily="34" charset="0"/>
            </a:rPr>
            <a:t>PV-10 $3.1Bn</a:t>
          </a:r>
          <a:r>
            <a:rPr lang="en-US" sz="1600" kern="1200" baseline="30000" dirty="0">
              <a:latin typeface="Arial" panose="020B0604020202020204" pitchFamily="34" charset="0"/>
              <a:cs typeface="Arial" panose="020B0604020202020204" pitchFamily="34" charset="0"/>
            </a:rPr>
            <a:t>(2)</a:t>
          </a:r>
          <a:endParaRPr lang="en-US" sz="16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9034060" y="253948"/>
        <a:ext cx="1426009" cy="95067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F676CB-1D46-3B42-8B05-BCBADD1BDC68}" type="datetimeFigureOut">
              <a:rPr lang="en-US" smtClean="0"/>
              <a:t>7/16/26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C85F37-76A8-3448-BB1D-29F2667A26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2887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9C5E72-B5D6-A4E6-B4DC-A147F2AA9A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8E3C21-94DA-C85E-41C1-E87E9698D1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54804E-838D-F576-6F95-4F02C53B80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C06C82-133A-E74A-8F7A-AF8B764C1ED8}" type="datetimeFigureOut">
              <a:rPr lang="en-US" smtClean="0"/>
              <a:t>7/16/26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784146-B2B0-E09E-375F-6A1BAF5ACD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3D57E2-2BAF-2E63-38E4-B9BC8D5CD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7E01E-941B-9149-9E8A-1F0247F685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2576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7DFF9A-1514-2742-3028-79D8BCC867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17B25C-F6B6-8178-C5D3-1F5BC8C946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53CAE6-1CFF-4810-E446-BBC43C00DA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C06C82-133A-E74A-8F7A-AF8B764C1ED8}" type="datetimeFigureOut">
              <a:rPr lang="en-US" smtClean="0"/>
              <a:t>7/16/26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189174-32F2-D8B1-1EC7-42575AADB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217A1E-891E-05DE-B122-2F5BF5F2A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7E01E-941B-9149-9E8A-1F0247F685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23509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654FFA-E00B-39DE-8A54-31B8546B66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F97D6F-5140-66A7-7376-45F3F2229E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A18654-ACF6-1140-BE03-B6F200780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C06C82-133A-E74A-8F7A-AF8B764C1ED8}" type="datetimeFigureOut">
              <a:rPr lang="en-US" smtClean="0"/>
              <a:t>7/16/26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BECEB3-0ABC-11E0-0ACF-57CD13A620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699D90-56F1-26D0-2B07-964AAEC42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7E01E-941B-9149-9E8A-1F0247F685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320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63934-A678-DA1E-500B-18CFBDCF26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7755BF-2E52-6C79-669C-1A649DF5B5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376964-4214-EA75-BDC8-924A0B8D0D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E60144-D776-4D5B-70F2-B686CE511C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C06C82-133A-E74A-8F7A-AF8B764C1ED8}" type="datetimeFigureOut">
              <a:rPr lang="en-US" smtClean="0"/>
              <a:t>7/16/26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95C6AC-F33B-D50E-5F6C-43D82E6E0F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1DCCCC-F479-B20B-CC18-C03DD677E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7E01E-941B-9149-9E8A-1F0247F685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04553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173789-3D9C-16F8-75E1-4228E8FB06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3E66C1-7A18-E4F4-C5A6-8ABEF61BBE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ED54D7-79E1-617D-7724-93A39822DC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452DFCB-737D-6089-E382-DE06F5ABF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E86B764-C38C-B6D8-3A9A-14F3A63E6C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DFD5554-3D59-587B-D02D-294D6DAB0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C06C82-133A-E74A-8F7A-AF8B764C1ED8}" type="datetimeFigureOut">
              <a:rPr lang="en-US" smtClean="0"/>
              <a:t>7/16/26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B666D0A-E555-10CD-D3CC-51BBFB2F2A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A2D957E-96D4-6C05-0F2A-2DCB604032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7E01E-941B-9149-9E8A-1F0247F685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14209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F5866D-74CD-2DC1-7BFC-90A8FBC278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F77DBC1-DD8F-BF10-DFCD-7F7DFF26FE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C06C82-133A-E74A-8F7A-AF8B764C1ED8}" type="datetimeFigureOut">
              <a:rPr lang="en-US" smtClean="0"/>
              <a:t>7/16/26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7C2800-C466-405C-C002-83595BFA64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8E041E-6E21-FCAE-DAE8-AE01C9F60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7E01E-941B-9149-9E8A-1F0247F685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41606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8D1F19-0CA6-FBCF-C539-EDD2BE4BE4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C06C82-133A-E74A-8F7A-AF8B764C1ED8}" type="datetimeFigureOut">
              <a:rPr lang="en-US" smtClean="0"/>
              <a:t>7/16/26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E0834F3-1AFD-6831-75CE-350DCB5E1F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3BD4B7-BB7F-9D67-DF50-EA0500DF3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7E01E-941B-9149-9E8A-1F0247F685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84755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82BC30-7C68-CF9A-82A0-37ABEB518F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B8B098-352A-72F7-721E-9045750FF1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A619A5-9961-380F-E3F1-5B8BBF58DA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7C001F-FA40-9A69-5BC5-229E69702D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C06C82-133A-E74A-8F7A-AF8B764C1ED8}" type="datetimeFigureOut">
              <a:rPr lang="en-US" smtClean="0"/>
              <a:t>7/16/26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308808-1E52-BD31-93E2-95EF60D68C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8069EE-E82B-6497-C3BE-8F9D0259E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7E01E-941B-9149-9E8A-1F0247F685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9310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D19AB9-B831-7483-9075-B4204D3EC8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09E1B2-62EB-8452-0ED6-492578C7AB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980E09-D507-3CCA-CC44-3304AE8EA2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DBD143-FC7C-2C8D-731A-6B851AA2B5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C06C82-133A-E74A-8F7A-AF8B764C1ED8}" type="datetimeFigureOut">
              <a:rPr lang="en-US" smtClean="0"/>
              <a:t>7/16/26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EE1F9A-8641-1FFA-A965-82BA32CEF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3D16C9-7DB7-28CC-1075-F2CA57074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7E01E-941B-9149-9E8A-1F0247F685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20712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921813-D63A-624B-DEA3-7DDFA72E2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DCF21A-DF1E-59EB-E2F7-389C1B628D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902662-59FC-3C65-DF18-91720B186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C06C82-133A-E74A-8F7A-AF8B764C1ED8}" type="datetimeFigureOut">
              <a:rPr lang="en-US" smtClean="0"/>
              <a:t>7/16/26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DAD13E-6026-2F6C-1A54-08AFF37D9E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42420C-5D53-B107-E2D9-E1F9048FB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7E01E-941B-9149-9E8A-1F0247F685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4089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5340D89-68B7-28AB-31A1-5A2ACBE017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FA5CC5-7AE5-D2BD-07EB-6BEA5B3997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E36D5F-F5E1-1F8B-FD3B-C809FF6FF8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C06C82-133A-E74A-8F7A-AF8B764C1ED8}" type="datetimeFigureOut">
              <a:rPr lang="en-US" smtClean="0"/>
              <a:t>7/16/26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985ECD-BC6E-817A-190E-60CD2A1A6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BA01E2-A232-6851-566B-E304537082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7E01E-941B-9149-9E8A-1F0247F685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2009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C580B65-04E3-4C95-D286-BE19ADF2DD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1FE275-FC76-ABA0-E0B1-DA54E5573A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A20F3B-568D-8F02-A8AF-CB3A9D0E8B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C06C82-133A-E74A-8F7A-AF8B764C1ED8}" type="datetimeFigureOut">
              <a:rPr lang="en-US" smtClean="0"/>
              <a:t>7/16/26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D94BC5-9AFF-1874-9903-A9AFAC5C82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9952BB-8B33-0353-7070-F889D92DB7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87E01E-941B-9149-9E8A-1F0247F685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37788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hartenergy.com/upstream/exploration-production/he-crescent-vital-midland-water-oil/" TargetMode="External"/><Relationship Id="rId2" Type="http://schemas.openxmlformats.org/officeDocument/2006/relationships/hyperlink" Target="https://www.sec.gov/ix?doc=/Archives/edgar/data/1528129/000152812925000045/vtle-20241231.htm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hyperlink" Target="https://webapps.rrc.texas.gov/PDQ/generalReportAction.do" TargetMode="External"/><Relationship Id="rId3" Type="http://schemas.openxmlformats.org/officeDocument/2006/relationships/diagramLayout" Target="../diagrams/layout1.xml"/><Relationship Id="rId7" Type="http://schemas.openxmlformats.org/officeDocument/2006/relationships/image" Target="../media/image6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diagramLayout" Target="../diagrams/layout2.xml"/><Relationship Id="rId7" Type="http://schemas.openxmlformats.org/officeDocument/2006/relationships/image" Target="../media/image7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Relationship Id="rId9" Type="http://schemas.openxmlformats.org/officeDocument/2006/relationships/hyperlink" Target="https://www.sec.gov/ix?doc=/Archives/edgar/data/1528129/000152812925000045/vtle-20241231.htm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ebapps.rrc.texas.gov/PDQ/generalReportAction.do" TargetMode="External"/><Relationship Id="rId2" Type="http://schemas.openxmlformats.org/officeDocument/2006/relationships/hyperlink" Target="https://s21.q4cdn.com/856702509/files/doc_presentation/2025/08/Crescent-Energy-to-Acquire-Vital-Energy-Rollout-8-25-25.pdf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sec.gov/ix?doc=/Archives/edgar/data/1528129/000152812925000045/vtle-20241231.ht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46DE0A-3B99-AE52-C925-F44301AE22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330"/>
            <a:ext cx="9144000" cy="2387600"/>
          </a:xfrm>
        </p:spPr>
        <p:txBody>
          <a:bodyPr>
            <a:normAutofit/>
          </a:bodyPr>
          <a:lstStyle/>
          <a:p>
            <a:r>
              <a:rPr lang="en-US" sz="44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Crescent Energy's Acquisition of Vital Energy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59B55D-CBDC-A4D7-F025-5949178F98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977005"/>
            <a:ext cx="9144000" cy="495400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An Independent Technical Valuation from Public Data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4660D29-8A42-AA87-087A-658CADFB9FAD}"/>
              </a:ext>
            </a:extLst>
          </p:cNvPr>
          <p:cNvSpPr txBox="1"/>
          <p:nvPr/>
        </p:nvSpPr>
        <p:spPr>
          <a:xfrm>
            <a:off x="1884261" y="5899005"/>
            <a:ext cx="609985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Vandan Bhalala</a:t>
            </a:r>
            <a:b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July 17, 2026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634A5BEF-DA09-E8F1-F0EC-4F736301529B}"/>
              </a:ext>
            </a:extLst>
          </p:cNvPr>
          <p:cNvGrpSpPr/>
          <p:nvPr/>
        </p:nvGrpSpPr>
        <p:grpSpPr>
          <a:xfrm>
            <a:off x="1884261" y="4264234"/>
            <a:ext cx="8423477" cy="774017"/>
            <a:chOff x="2207870" y="4261946"/>
            <a:chExt cx="8423477" cy="774017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194040DA-9F53-AFFD-778B-5BF6BCF1BB26}"/>
                </a:ext>
              </a:extLst>
            </p:cNvPr>
            <p:cNvSpPr txBox="1"/>
            <p:nvPr/>
          </p:nvSpPr>
          <p:spPr>
            <a:xfrm>
              <a:off x="2207870" y="4263471"/>
              <a:ext cx="2967943" cy="76944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800" b="1" dirty="0">
                  <a:solidFill>
                    <a:srgbClr val="00B0F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$3.1Bn</a:t>
              </a:r>
              <a:r>
                <a:rPr lang="en-US" sz="2800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</a:p>
            <a:p>
              <a:pPr algn="ctr"/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Independent PV-10 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1DCC004-92E5-1B02-2C0B-5E8D00FB1D46}"/>
                </a:ext>
              </a:extLst>
            </p:cNvPr>
            <p:cNvSpPr txBox="1"/>
            <p:nvPr/>
          </p:nvSpPr>
          <p:spPr>
            <a:xfrm>
              <a:off x="4528594" y="4266522"/>
              <a:ext cx="3134811" cy="76944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800" b="1" dirty="0">
                  <a:solidFill>
                    <a:srgbClr val="00B0F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~1%</a:t>
              </a:r>
            </a:p>
            <a:p>
              <a:pPr algn="ctr"/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Variance to price paid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57AAFF4-004A-CB0A-1665-7D5CB466F8CA}"/>
                </a:ext>
              </a:extLst>
            </p:cNvPr>
            <p:cNvSpPr txBox="1"/>
            <p:nvPr/>
          </p:nvSpPr>
          <p:spPr>
            <a:xfrm>
              <a:off x="7496537" y="4261946"/>
              <a:ext cx="3134810" cy="76944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800" b="1" dirty="0">
                  <a:solidFill>
                    <a:srgbClr val="00B0F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0.1%</a:t>
              </a:r>
              <a:r>
                <a:rPr lang="en-US" sz="2800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</a:p>
            <a:p>
              <a:pPr algn="ctr"/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EBITDA vs street consensus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272253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9296C-17D2-E84F-564A-7E7052B270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214" y="81647"/>
            <a:ext cx="4799153" cy="705347"/>
          </a:xfrm>
        </p:spPr>
        <p:txBody>
          <a:bodyPr>
            <a:normAutofit fontScale="90000"/>
          </a:bodyPr>
          <a:lstStyle/>
          <a:p>
            <a:r>
              <a:rPr lang="en-US" sz="36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Asset (Vital Energy)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2E4AADC-6432-3C72-D474-9C327CDF94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053842"/>
              </p:ext>
            </p:extLst>
          </p:nvPr>
        </p:nvGraphicFramePr>
        <p:xfrm>
          <a:off x="467811" y="914658"/>
          <a:ext cx="6245505" cy="4298930"/>
        </p:xfrm>
        <a:graphic>
          <a:graphicData uri="http://schemas.openxmlformats.org/drawingml/2006/table">
            <a:tbl>
              <a:tblPr firstRow="1" bandRow="1">
                <a:tableStyleId>{17292A2E-F333-43FB-9621-5CBBE7FDCDCB}</a:tableStyleId>
              </a:tblPr>
              <a:tblGrid>
                <a:gridCol w="3050360">
                  <a:extLst>
                    <a:ext uri="{9D8B030D-6E8A-4147-A177-3AD203B41FA5}">
                      <a16:colId xmlns:a16="http://schemas.microsoft.com/office/drawing/2014/main" val="1671370675"/>
                    </a:ext>
                  </a:extLst>
                </a:gridCol>
                <a:gridCol w="3195145">
                  <a:extLst>
                    <a:ext uri="{9D8B030D-6E8A-4147-A177-3AD203B41FA5}">
                      <a16:colId xmlns:a16="http://schemas.microsoft.com/office/drawing/2014/main" val="3835022983"/>
                    </a:ext>
                  </a:extLst>
                </a:gridCol>
              </a:tblGrid>
              <a:tr h="341261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Asset Details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Total Permian Basin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03579236"/>
                  </a:ext>
                </a:extLst>
              </a:tr>
              <a:tr h="341261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Net Acres</a:t>
                      </a:r>
                      <a:r>
                        <a:rPr lang="en-US" sz="1400" baseline="30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(1)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~286K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02597025"/>
                  </a:ext>
                </a:extLst>
              </a:tr>
              <a:tr h="389916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Estimated Proved Reserves</a:t>
                      </a:r>
                      <a:r>
                        <a:rPr lang="en-US" sz="1400" baseline="30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(1)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~455 MMboe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45223524"/>
                  </a:ext>
                </a:extLst>
              </a:tr>
              <a:tr h="34152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Reserves-weighting (%Oil)</a:t>
                      </a:r>
                      <a:r>
                        <a:rPr lang="en-US" sz="1400" baseline="30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(1)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97302792"/>
                  </a:ext>
                </a:extLst>
              </a:tr>
              <a:tr h="507374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Percentage Developed</a:t>
                      </a:r>
                      <a:r>
                        <a:rPr lang="en-US" sz="1400" baseline="30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(1)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21187773"/>
                  </a:ext>
                </a:extLst>
              </a:tr>
              <a:tr h="507374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Average daily production</a:t>
                      </a:r>
                      <a:r>
                        <a:rPr lang="en-US" sz="1400" baseline="30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(1)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138 MBOE/d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1636358"/>
                  </a:ext>
                </a:extLst>
              </a:tr>
              <a:tr h="525625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Production-weighting Mix</a:t>
                      </a:r>
                      <a:r>
                        <a:rPr lang="en-US" sz="1400" baseline="30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(1)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Oil 46% / NGL 27% / Gas 27%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3855721"/>
                  </a:ext>
                </a:extLst>
              </a:tr>
              <a:tr h="63492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Counties</a:t>
                      </a:r>
                      <a:r>
                        <a:rPr lang="en-US" sz="1400" baseline="30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(2)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Howard, Glasscock, Upton, Reeves, Ward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01166754"/>
                  </a:ext>
                </a:extLst>
              </a:tr>
              <a:tr h="560921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Production Split %</a:t>
                      </a:r>
                      <a:r>
                        <a:rPr lang="en-US" sz="1400" baseline="30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(3)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37% (Delaware); 63% (Midland)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96096340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BF509DD4-E4C4-6011-81C1-C986C1D49E32}"/>
              </a:ext>
            </a:extLst>
          </p:cNvPr>
          <p:cNvSpPr txBox="1"/>
          <p:nvPr/>
        </p:nvSpPr>
        <p:spPr>
          <a:xfrm>
            <a:off x="594648" y="6293025"/>
            <a:ext cx="479915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(1) </a:t>
            </a:r>
            <a:r>
              <a:rPr lang="en-US" sz="8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Vital Energy Form 10-K.</a:t>
            </a:r>
            <a:br>
              <a:rPr lang="en-US" sz="8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8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(2) Top 5 counties were considered for analysis.</a:t>
            </a:r>
          </a:p>
          <a:p>
            <a:r>
              <a:rPr lang="en-US" sz="8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(3) Author’s analysis.</a:t>
            </a:r>
          </a:p>
          <a:p>
            <a:r>
              <a:rPr lang="en-US" sz="8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(4) </a:t>
            </a:r>
            <a:r>
              <a:rPr lang="en-US" sz="8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Crescent’s Permian Position.</a:t>
            </a:r>
            <a:endParaRPr lang="en-US" sz="800" dirty="0">
              <a:solidFill>
                <a:schemeClr val="bg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0DAF985-FE81-D2A2-AC0F-B93BEF514EA1}"/>
              </a:ext>
            </a:extLst>
          </p:cNvPr>
          <p:cNvGrpSpPr/>
          <p:nvPr/>
        </p:nvGrpSpPr>
        <p:grpSpPr>
          <a:xfrm>
            <a:off x="7326775" y="786994"/>
            <a:ext cx="4490011" cy="4545079"/>
            <a:chOff x="6798200" y="594031"/>
            <a:chExt cx="5309910" cy="5698994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76287158-46BD-DFE8-6BA9-159AC71E756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798200" y="594031"/>
              <a:ext cx="4799153" cy="5698994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3F27B88-9061-101B-06E4-A7E85048C677}"/>
                </a:ext>
              </a:extLst>
            </p:cNvPr>
            <p:cNvSpPr txBox="1"/>
            <p:nvPr/>
          </p:nvSpPr>
          <p:spPr>
            <a:xfrm>
              <a:off x="11597349" y="594031"/>
              <a:ext cx="510761" cy="4630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aseline="30000" dirty="0">
                  <a:latin typeface="Arial" panose="020B0604020202020204" pitchFamily="34" charset="0"/>
                  <a:cs typeface="Arial" panose="020B0604020202020204" pitchFamily="34" charset="0"/>
                </a:rPr>
                <a:t>(4)</a:t>
              </a:r>
              <a:endParaRPr lang="en-US" dirty="0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1C71C855-C0CA-17E8-DD6B-782E9762F128}"/>
              </a:ext>
            </a:extLst>
          </p:cNvPr>
          <p:cNvSpPr txBox="1"/>
          <p:nvPr/>
        </p:nvSpPr>
        <p:spPr>
          <a:xfrm>
            <a:off x="467811" y="5459737"/>
            <a:ext cx="109170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An oil-weighted Permian pure-play with 70% of reserves already developed, most of the value is producing today and not waiting on future drilling.</a:t>
            </a:r>
          </a:p>
        </p:txBody>
      </p:sp>
    </p:spTree>
    <p:extLst>
      <p:ext uri="{BB962C8B-B14F-4D97-AF65-F5344CB8AC3E}">
        <p14:creationId xmlns:p14="http://schemas.microsoft.com/office/powerpoint/2010/main" val="10974824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2F251-C02F-C403-DED4-54438B047A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868" y="47377"/>
            <a:ext cx="11571495" cy="1325563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Technical Approach: Decline Curve Analysis on Public Production Data</a:t>
            </a:r>
          </a:p>
        </p:txBody>
      </p:sp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id="{C3C1552E-ACA6-2E09-A54D-5C77FBF2591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05904365"/>
              </p:ext>
            </p:extLst>
          </p:nvPr>
        </p:nvGraphicFramePr>
        <p:xfrm>
          <a:off x="490959" y="1587480"/>
          <a:ext cx="4231512" cy="3526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962EA9A6-B75A-DF07-CF54-31849BDF99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7"/>
          <a:stretch>
            <a:fillRect/>
          </a:stretch>
        </p:blipFill>
        <p:spPr>
          <a:xfrm>
            <a:off x="5393803" y="1329034"/>
            <a:ext cx="6471881" cy="378527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97BC8238-919A-4E32-2EE2-07A58EF1A73E}"/>
              </a:ext>
            </a:extLst>
          </p:cNvPr>
          <p:cNvSpPr txBox="1"/>
          <p:nvPr/>
        </p:nvSpPr>
        <p:spPr>
          <a:xfrm>
            <a:off x="838199" y="5413257"/>
            <a:ext cx="1102748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Result: two basin specific decline profiles (Midland declines faster and early, Delaware more durable) validated at R² 0.96 median.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7F0C9E5-B63F-6CAB-DE15-B03087CCBB4D}"/>
              </a:ext>
            </a:extLst>
          </p:cNvPr>
          <p:cNvSpPr txBox="1"/>
          <p:nvPr/>
        </p:nvSpPr>
        <p:spPr>
          <a:xfrm>
            <a:off x="838199" y="6488668"/>
            <a:ext cx="60995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(1) </a:t>
            </a:r>
            <a:r>
              <a:rPr lang="en-US" sz="9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RRC Texas Production Data Query</a:t>
            </a:r>
            <a:endParaRPr lang="en-US" sz="900" dirty="0">
              <a:solidFill>
                <a:schemeClr val="bg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9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(2) Author’s Analysis</a:t>
            </a:r>
          </a:p>
        </p:txBody>
      </p:sp>
    </p:spTree>
    <p:extLst>
      <p:ext uri="{BB962C8B-B14F-4D97-AF65-F5344CB8AC3E}">
        <p14:creationId xmlns:p14="http://schemas.microsoft.com/office/powerpoint/2010/main" val="37111363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AE5958-AD50-D5E8-7169-2AAA89785E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2598" y="90555"/>
            <a:ext cx="11142637" cy="901096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Valuation: PV-10 of $3.1B</a:t>
            </a:r>
            <a:r>
              <a:rPr lang="en-US" sz="3600" baseline="300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(2)</a:t>
            </a:r>
            <a:r>
              <a:rPr lang="en-US" sz="36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In Line with Price Paid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7329F35-7016-35B9-4415-9E25C9A9797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78364045"/>
              </p:ext>
            </p:extLst>
          </p:nvPr>
        </p:nvGraphicFramePr>
        <p:xfrm>
          <a:off x="464878" y="909008"/>
          <a:ext cx="10938076" cy="145856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CA287E40-AF59-D35A-21D6-DBE30E77CCC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0189" y="2367577"/>
            <a:ext cx="5609065" cy="308498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EEDFC62-ADE7-D60A-8716-A8CF17FB8AE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04790" y="2267870"/>
            <a:ext cx="4598164" cy="328440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43E3289-E1A4-F94A-7E31-D215E31DBAFB}"/>
              </a:ext>
            </a:extLst>
          </p:cNvPr>
          <p:cNvSpPr txBox="1"/>
          <p:nvPr/>
        </p:nvSpPr>
        <p:spPr>
          <a:xfrm>
            <a:off x="464879" y="5700854"/>
            <a:ext cx="109380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Independent PV-10 of $3.1B</a:t>
            </a:r>
            <a:r>
              <a:rPr lang="en-US" b="1" baseline="30000" dirty="0">
                <a:latin typeface="Arial" panose="020B0604020202020204" pitchFamily="34" charset="0"/>
                <a:cs typeface="Arial" panose="020B0604020202020204" pitchFamily="34" charset="0"/>
              </a:rPr>
              <a:t>(2)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lands within ~1% of the $3.1B Crescent paid, and reconciles to street EBITDA within 0.1%, indicating the assets were priced fairly.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C933BD0-96B7-E18C-15F2-16FC3503E7B8}"/>
              </a:ext>
            </a:extLst>
          </p:cNvPr>
          <p:cNvSpPr txBox="1"/>
          <p:nvPr/>
        </p:nvSpPr>
        <p:spPr>
          <a:xfrm>
            <a:off x="464878" y="6488668"/>
            <a:ext cx="60995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(1) </a:t>
            </a:r>
            <a:r>
              <a:rPr lang="en-US" sz="9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Vital Energy Form 10-K</a:t>
            </a:r>
            <a:endParaRPr lang="en-US" sz="900" dirty="0">
              <a:solidFill>
                <a:schemeClr val="bg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9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(2) Author’s Analysis</a:t>
            </a:r>
          </a:p>
        </p:txBody>
      </p:sp>
    </p:spTree>
    <p:extLst>
      <p:ext uri="{BB962C8B-B14F-4D97-AF65-F5344CB8AC3E}">
        <p14:creationId xmlns:p14="http://schemas.microsoft.com/office/powerpoint/2010/main" val="5030513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4F9A17-2BB0-7A77-C073-37B265AF06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 Takeaways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2ED9AF-9A14-D62F-A0F8-E62EC62411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97306"/>
            <a:ext cx="10515600" cy="4579657"/>
          </a:xfrm>
        </p:spPr>
        <p:txBody>
          <a:bodyPr>
            <a:normAutofit fontScale="92500" lnSpcReduction="20000"/>
          </a:bodyPr>
          <a:lstStyle/>
          <a:p>
            <a:pPr algn="just">
              <a:lnSpc>
                <a:spcPct val="150000"/>
              </a:lnSpc>
            </a:pPr>
            <a:r>
              <a:rPr lang="en-US" sz="1800" dirty="0"/>
              <a:t>My independent valuation puts Vital Energy’s assets at a PV-10 of $3.1B</a:t>
            </a:r>
            <a:r>
              <a:rPr lang="en-US" sz="1800" baseline="30000" dirty="0">
                <a:latin typeface="Arial" panose="020B0604020202020204" pitchFamily="34" charset="0"/>
                <a:cs typeface="Arial" panose="020B0604020202020204" pitchFamily="34" charset="0"/>
              </a:rPr>
              <a:t>(1)</a:t>
            </a:r>
            <a:r>
              <a:rPr lang="en-US" sz="1800" dirty="0"/>
              <a:t> within ~1% of the ~$3.1B Crescent paid. The deal was priced fairly on the rocks.</a:t>
            </a:r>
          </a:p>
          <a:p>
            <a:pPr algn="just">
              <a:lnSpc>
                <a:spcPct val="150000"/>
              </a:lnSpc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Value creation is financial, not a distressed asset discount, the market priced Vital Energy’s balance sheet, not its rock quality.</a:t>
            </a:r>
          </a:p>
          <a:p>
            <a:pPr lvl="1" algn="just">
              <a:lnSpc>
                <a:spcPct val="150000"/>
              </a:lnSpc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$90-100MM annual operating synergies</a:t>
            </a:r>
            <a:r>
              <a:rPr lang="en-US" sz="1800" baseline="30000" dirty="0">
                <a:latin typeface="Arial" panose="020B0604020202020204" pitchFamily="34" charset="0"/>
                <a:cs typeface="Arial" panose="020B0604020202020204" pitchFamily="34" charset="0"/>
              </a:rPr>
              <a:t>(2)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>
              <a:lnSpc>
                <a:spcPct val="150000"/>
              </a:lnSpc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400-450 bps refinancing benefit (Vital's expensive debt at Crescent's lower cost of capital)</a:t>
            </a:r>
            <a:r>
              <a:rPr lang="en-US" sz="1800" baseline="30000" dirty="0">
                <a:latin typeface="Arial" panose="020B0604020202020204" pitchFamily="34" charset="0"/>
                <a:cs typeface="Arial" panose="020B0604020202020204" pitchFamily="34" charset="0"/>
              </a:rPr>
              <a:t> (2)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>
              <a:lnSpc>
                <a:spcPct val="150000"/>
              </a:lnSpc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~$1BN non-core divestiture pipeline to accelerate deleveraging</a:t>
            </a:r>
            <a:r>
              <a:rPr lang="en-US" sz="1800" baseline="30000" dirty="0">
                <a:latin typeface="Arial" panose="020B0604020202020204" pitchFamily="34" charset="0"/>
                <a:cs typeface="Arial" panose="020B0604020202020204" pitchFamily="34" charset="0"/>
              </a:rPr>
              <a:t> (2)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Confirmed post-close: Crescent reported the transaction accretive across all key metrics (Q4 2025 earnings), consistent with this analysis.</a:t>
            </a:r>
          </a:p>
          <a:p>
            <a:pPr algn="just">
              <a:lnSpc>
                <a:spcPct val="150000"/>
              </a:lnSpc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Built entirely from public data (Texas RRC</a:t>
            </a:r>
            <a:r>
              <a:rPr lang="en-US" sz="1800" baseline="30000" dirty="0">
                <a:latin typeface="Arial" panose="020B0604020202020204" pitchFamily="34" charset="0"/>
                <a:cs typeface="Arial" panose="020B0604020202020204" pitchFamily="34" charset="0"/>
              </a:rPr>
              <a:t> (3)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, SEC filings</a:t>
            </a:r>
            <a:r>
              <a:rPr lang="en-US" sz="1800" baseline="30000" dirty="0">
                <a:latin typeface="Arial" panose="020B0604020202020204" pitchFamily="34" charset="0"/>
                <a:cs typeface="Arial" panose="020B0604020202020204" pitchFamily="34" charset="0"/>
              </a:rPr>
              <a:t> (4)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) using Python and Excel and performed decline curve analysis, type curves, reserve-based DCF, and sensitivity modeling.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BEE14B-D285-DC18-D285-BBD7ADC1FCC7}"/>
              </a:ext>
            </a:extLst>
          </p:cNvPr>
          <p:cNvSpPr txBox="1"/>
          <p:nvPr/>
        </p:nvSpPr>
        <p:spPr>
          <a:xfrm>
            <a:off x="838200" y="6169709"/>
            <a:ext cx="723419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(1) Author’s Analysis</a:t>
            </a:r>
          </a:p>
          <a:p>
            <a:r>
              <a:rPr lang="en-US" sz="9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(2) </a:t>
            </a:r>
            <a:r>
              <a:rPr lang="en-US" sz="9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Crescent Energy to Acquire Vital Energy</a:t>
            </a:r>
            <a:endParaRPr lang="en-US" sz="900" dirty="0">
              <a:solidFill>
                <a:schemeClr val="bg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r>
              <a:rPr lang="en-US" sz="9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(3) </a:t>
            </a:r>
            <a:r>
              <a:rPr lang="en-US" sz="9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RRC Texas Production Data Query</a:t>
            </a:r>
            <a:endParaRPr lang="en-US" sz="900" dirty="0">
              <a:solidFill>
                <a:schemeClr val="bg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hlinkClick r:id="rId4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r>
              <a:rPr lang="en-US" sz="9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(4) </a:t>
            </a:r>
            <a:r>
              <a:rPr lang="en-US" sz="9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Vital Energy Form 10-K</a:t>
            </a:r>
            <a:endParaRPr lang="en-US" sz="900" dirty="0">
              <a:solidFill>
                <a:schemeClr val="bg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73251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1296</TotalTime>
  <Words>560</Words>
  <Application>Microsoft Macintosh PowerPoint</Application>
  <PresentationFormat>Widescreen</PresentationFormat>
  <Paragraphs>63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Crescent Energy's Acquisition of Vital Energy</vt:lpstr>
      <vt:lpstr>The Asset (Vital Energy)</vt:lpstr>
      <vt:lpstr>Technical Approach: Decline Curve Analysis on Public Production Data</vt:lpstr>
      <vt:lpstr>Valuation: PV-10 of $3.1B (2), In Line with Price Paid</vt:lpstr>
      <vt:lpstr>Key Takeaways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Vandan Dineshbhai Bhalala</dc:creator>
  <cp:lastModifiedBy>Vandan Dineshbhai Bhalala</cp:lastModifiedBy>
  <cp:revision>15</cp:revision>
  <dcterms:created xsi:type="dcterms:W3CDTF">2026-07-16T02:06:44Z</dcterms:created>
  <dcterms:modified xsi:type="dcterms:W3CDTF">2026-07-17T04:51:19Z</dcterms:modified>
</cp:coreProperties>
</file>